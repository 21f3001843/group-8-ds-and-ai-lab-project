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Inter SemiBold"/>
      <p:regular r:id="rId12"/>
      <p:bold r:id="rId13"/>
      <p:italic r:id="rId14"/>
      <p:boldItalic r:id="rId15"/>
    </p:embeddedFont>
    <p:embeddedFont>
      <p:font typeface="Inter"/>
      <p:bold r:id="rId16"/>
      <p:boldItalic r:id="rId17"/>
    </p:embeddedFont>
    <p:embeddedFont>
      <p:font typeface="Inter ExtraBold"/>
      <p:bold r:id="rId18"/>
      <p:boldItalic r:id="rId19"/>
    </p:embeddedFont>
    <p:embeddedFont>
      <p:font typeface="Inter Medium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Medium-regular.fntdata"/><Relationship Id="rId11" Type="http://schemas.openxmlformats.org/officeDocument/2006/relationships/slide" Target="slides/slide6.xml"/><Relationship Id="rId22" Type="http://schemas.openxmlformats.org/officeDocument/2006/relationships/font" Target="fonts/InterMedium-italic.fntdata"/><Relationship Id="rId10" Type="http://schemas.openxmlformats.org/officeDocument/2006/relationships/slide" Target="slides/slide5.xml"/><Relationship Id="rId21" Type="http://schemas.openxmlformats.org/officeDocument/2006/relationships/font" Target="fonts/InterMedium-bold.fntdata"/><Relationship Id="rId13" Type="http://schemas.openxmlformats.org/officeDocument/2006/relationships/font" Target="fonts/InterSemiBold-bold.fntdata"/><Relationship Id="rId12" Type="http://schemas.openxmlformats.org/officeDocument/2006/relationships/font" Target="fonts/InterSemiBold-regular.fntdata"/><Relationship Id="rId23" Type="http://schemas.openxmlformats.org/officeDocument/2006/relationships/font" Target="fonts/Inter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SemiBold-boldItalic.fntdata"/><Relationship Id="rId14" Type="http://schemas.openxmlformats.org/officeDocument/2006/relationships/font" Target="fonts/InterSemiBold-italic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ExtraBold-boldItalic.fntdata"/><Relationship Id="rId6" Type="http://schemas.openxmlformats.org/officeDocument/2006/relationships/slide" Target="slides/slide1.xml"/><Relationship Id="rId18" Type="http://schemas.openxmlformats.org/officeDocument/2006/relationships/font" Target="fonts/InterExtra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156138d241fc0162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156138d241fc0162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156138d241fc0162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156138d241fc0162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156138d241fc0162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156138d241fc0162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156138d241fc0162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h156138d241fc0162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156138d241fc0162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156138d241fc0162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h156138d241fc0162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h156138d241fc0162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156138d241fc0162_14_0)">
  <p:cSld name="Generated (h156138d241fc0162_14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" name="Google Shape;57;p14"/>
            <p:cNvGrpSpPr/>
            <p:nvPr/>
          </p:nvGrpSpPr>
          <p:grpSpPr>
            <a:xfrm>
              <a:off x="457200" y="457200"/>
              <a:ext cx="342900" cy="342900"/>
              <a:chOff x="0" y="0"/>
              <a:chExt cx="342900" cy="342900"/>
            </a:xfrm>
          </p:grpSpPr>
          <p:sp>
            <p:nvSpPr>
              <p:cNvPr id="58" name="Google Shape;58;p14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0056B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14"/>
              <p:cNvSpPr/>
              <p:nvPr/>
            </p:nvSpPr>
            <p:spPr>
              <a:xfrm>
                <a:off x="190500" y="0"/>
                <a:ext cx="152400" cy="152400"/>
              </a:xfrm>
              <a:prstGeom prst="rect">
                <a:avLst/>
              </a:prstGeom>
              <a:solidFill>
                <a:srgbClr val="0D8A9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14"/>
              <p:cNvSpPr/>
              <p:nvPr/>
            </p:nvSpPr>
            <p:spPr>
              <a:xfrm>
                <a:off x="0" y="190500"/>
                <a:ext cx="152400" cy="152400"/>
              </a:xfrm>
              <a:prstGeom prst="rect">
                <a:avLst/>
              </a:prstGeom>
              <a:solidFill>
                <a:srgbClr val="1A1D2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14"/>
              <p:cNvSpPr/>
              <p:nvPr/>
            </p:nvSpPr>
            <p:spPr>
              <a:xfrm>
                <a:off x="190500" y="190500"/>
                <a:ext cx="152400" cy="152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49505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62" name="Google Shape;62;p14"/>
            <p:cNvCxnSpPr/>
            <p:nvPr/>
          </p:nvCxnSpPr>
          <p:spPr>
            <a:xfrm>
              <a:off x="4572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4F6F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" name="Google Shape;63;p14"/>
            <p:cNvCxnSpPr/>
            <p:nvPr/>
          </p:nvCxnSpPr>
          <p:spPr>
            <a:xfrm>
              <a:off x="0" y="468630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4F6F8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4" name="Google Shape;64;p14"/>
          <p:cNvGrpSpPr/>
          <p:nvPr/>
        </p:nvGrpSpPr>
        <p:grpSpPr>
          <a:xfrm>
            <a:off x="457200" y="1333500"/>
            <a:ext cx="8229600" cy="3114675"/>
            <a:chOff x="0" y="0"/>
            <a:chExt cx="8229600" cy="3114675"/>
          </a:xfrm>
        </p:grpSpPr>
        <p:sp>
          <p:nvSpPr>
            <p:cNvPr id="65" name="Google Shape;65;p14"/>
            <p:cNvSpPr txBox="1"/>
            <p:nvPr/>
          </p:nvSpPr>
          <p:spPr>
            <a:xfrm>
              <a:off x="0" y="0"/>
              <a:ext cx="7620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en" sz="2600">
                  <a:solidFill>
                    <a:srgbClr val="1A1D20"/>
                  </a:solidFill>
                  <a:latin typeface="Inter"/>
                  <a:ea typeface="Inter"/>
                  <a:cs typeface="Inter"/>
                  <a:sym typeface="Inter"/>
                </a:rPr>
                <a:t>Uncertainty-Guided Image Recapture for Mobile Chest X-Rays</a:t>
              </a:r>
              <a:endParaRPr b="1" sz="2600">
                <a:solidFill>
                  <a:srgbClr val="1A1D2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6" name="Google Shape;66;p14"/>
            <p:cNvSpPr txBox="1"/>
            <p:nvPr/>
          </p:nvSpPr>
          <p:spPr>
            <a:xfrm>
              <a:off x="0" y="1095375"/>
              <a:ext cx="7620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0" lang="en" sz="1800">
                  <a:solidFill>
                    <a:srgbClr val="0056B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Improving Abnormality Detection Reliability in Smartphone-Captured Chest Radiographs</a:t>
              </a:r>
              <a:endParaRPr b="0" sz="1800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67" name="Google Shape;67;p14"/>
            <p:cNvCxnSpPr/>
            <p:nvPr/>
          </p:nvCxnSpPr>
          <p:spPr>
            <a:xfrm>
              <a:off x="0" y="1857375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EE2E6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68" name="Google Shape;68;p14"/>
            <p:cNvGrpSpPr/>
            <p:nvPr/>
          </p:nvGrpSpPr>
          <p:grpSpPr>
            <a:xfrm>
              <a:off x="0" y="2047875"/>
              <a:ext cx="8229600" cy="1066800"/>
              <a:chOff x="0" y="0"/>
              <a:chExt cx="8229600" cy="1066800"/>
            </a:xfrm>
          </p:grpSpPr>
          <p:sp>
            <p:nvSpPr>
              <p:cNvPr id="69" name="Google Shape;69;p14"/>
              <p:cNvSpPr txBox="1"/>
              <p:nvPr/>
            </p:nvSpPr>
            <p:spPr>
              <a:xfrm>
                <a:off x="0" y="0"/>
                <a:ext cx="82296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b="0" lang="en" sz="1000">
                    <a:solidFill>
                      <a:srgbClr val="0056B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DSAI Lab Project / Academic Research Committee Presentation</a:t>
                </a:r>
                <a:endParaRPr b="0" sz="1000">
                  <a:solidFill>
                    <a:srgbClr val="0056B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70" name="Google Shape;70;p14"/>
              <p:cNvSpPr txBox="1"/>
              <p:nvPr/>
            </p:nvSpPr>
            <p:spPr>
              <a:xfrm>
                <a:off x="0" y="304800"/>
                <a:ext cx="7239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900"/>
                  </a:spcAft>
                  <a:buNone/>
                </a:pPr>
                <a:r>
                  <a:rPr b="0" lang="en" sz="1200">
                    <a:solidFill>
                      <a:srgbClr val="495057"/>
                    </a:solidFill>
                    <a:latin typeface="Inter"/>
                    <a:ea typeface="Inter"/>
                    <a:cs typeface="Inter"/>
                    <a:sym typeface="Inter"/>
                  </a:rPr>
                  <a:t>Evaluating active, region-specific image re-acquisition to overcome photographic glare and distortion on mobile chest X-ray digitizations.</a:t>
                </a:r>
                <a:endParaRPr b="0" sz="1200">
                  <a:solidFill>
                    <a:srgbClr val="49505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1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76" name="Google Shape;76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" name="Google Shape;77;p15"/>
            <p:cNvGrpSpPr/>
            <p:nvPr/>
          </p:nvGrpSpPr>
          <p:grpSpPr>
            <a:xfrm>
              <a:off x="8343900" y="304800"/>
              <a:ext cx="342900" cy="342900"/>
              <a:chOff x="0" y="0"/>
              <a:chExt cx="342900" cy="342900"/>
            </a:xfrm>
          </p:grpSpPr>
          <p:sp>
            <p:nvSpPr>
              <p:cNvPr id="78" name="Google Shape;78;p15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0056B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5"/>
              <p:cNvSpPr/>
              <p:nvPr/>
            </p:nvSpPr>
            <p:spPr>
              <a:xfrm>
                <a:off x="190500" y="0"/>
                <a:ext cx="152400" cy="152400"/>
              </a:xfrm>
              <a:prstGeom prst="rect">
                <a:avLst/>
              </a:prstGeom>
              <a:solidFill>
                <a:srgbClr val="0D8A9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15"/>
              <p:cNvSpPr/>
              <p:nvPr/>
            </p:nvSpPr>
            <p:spPr>
              <a:xfrm>
                <a:off x="0" y="190500"/>
                <a:ext cx="152400" cy="152400"/>
              </a:xfrm>
              <a:prstGeom prst="rect">
                <a:avLst/>
              </a:prstGeom>
              <a:solidFill>
                <a:srgbClr val="1A1D2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5"/>
              <p:cNvSpPr/>
              <p:nvPr/>
            </p:nvSpPr>
            <p:spPr>
              <a:xfrm>
                <a:off x="190500" y="190500"/>
                <a:ext cx="152400" cy="152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49505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82" name="Google Shape;82;p15"/>
            <p:cNvCxnSpPr/>
            <p:nvPr/>
          </p:nvCxnSpPr>
          <p:spPr>
            <a:xfrm>
              <a:off x="457200" y="9144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EE2E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3" name="Google Shape;83;p15"/>
          <p:cNvSpPr txBox="1"/>
          <p:nvPr/>
        </p:nvSpPr>
        <p:spPr>
          <a:xfrm>
            <a:off x="457200" y="342900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A1D20"/>
                </a:solidFill>
                <a:latin typeface="Inter"/>
                <a:ea typeface="Inter"/>
                <a:cs typeface="Inter"/>
                <a:sym typeface="Inter"/>
              </a:rPr>
              <a:t>Research Problem &amp; Key Questions</a:t>
            </a:r>
            <a:endParaRPr b="1" sz="2200">
              <a:solidFill>
                <a:srgbClr val="1A1D2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457200" y="1104900"/>
            <a:ext cx="3905400" cy="3543300"/>
            <a:chOff x="0" y="0"/>
            <a:chExt cx="3905400" cy="354330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0" y="0"/>
              <a:ext cx="3905400" cy="1485900"/>
              <a:chOff x="0" y="0"/>
              <a:chExt cx="3905400" cy="1485900"/>
            </a:xfrm>
          </p:grpSpPr>
          <p:sp>
            <p:nvSpPr>
              <p:cNvPr id="86" name="Google Shape;86;p15"/>
              <p:cNvSpPr/>
              <p:nvPr/>
            </p:nvSpPr>
            <p:spPr>
              <a:xfrm>
                <a:off x="0" y="0"/>
                <a:ext cx="3905400" cy="1485900"/>
              </a:xfrm>
              <a:prstGeom prst="roundRect">
                <a:avLst>
                  <a:gd fmla="val 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>
                <a:off x="0" y="0"/>
                <a:ext cx="38100" cy="1485900"/>
              </a:xfrm>
              <a:prstGeom prst="rect">
                <a:avLst/>
              </a:prstGeom>
              <a:solidFill>
                <a:srgbClr val="0056B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15"/>
              <p:cNvSpPr txBox="1"/>
              <p:nvPr/>
            </p:nvSpPr>
            <p:spPr>
              <a:xfrm>
                <a:off x="190500" y="152400"/>
                <a:ext cx="3562200" cy="11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88">
                    <a:solidFill>
                      <a:srgbClr val="0056B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Problem Statement</a:t>
                </a:r>
                <a:endParaRPr b="0" sz="1388">
                  <a:solidFill>
                    <a:srgbClr val="0056B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600"/>
                  </a:spcAft>
                  <a:buNone/>
                </a:pPr>
                <a:r>
                  <a:rPr b="0" i="1" lang="en" sz="1203">
                    <a:solidFill>
                      <a:srgbClr val="1A1D20"/>
                    </a:solidFill>
                    <a:latin typeface="Inter"/>
                    <a:ea typeface="Inter"/>
                    <a:cs typeface="Inter"/>
                    <a:sym typeface="Inter"/>
                  </a:rPr>
                  <a:t>"Can uncertainty-guided, region-specific image recapture improve the reliability of chest X-ray abnormality detection from smartphone photographs of physical X-ray films?"</a:t>
                </a:r>
                <a:endParaRPr b="0" i="1" sz="1203">
                  <a:solidFill>
                    <a:srgbClr val="1A1D2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89" name="Google Shape;89;p15"/>
            <p:cNvSpPr txBox="1"/>
            <p:nvPr/>
          </p:nvSpPr>
          <p:spPr>
            <a:xfrm>
              <a:off x="0" y="1638300"/>
              <a:ext cx="39054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056B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Diagnostic Context &amp; Challenges</a:t>
              </a:r>
              <a:endParaRPr b="0" sz="1500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1D20"/>
                  </a:solidFill>
                  <a:latin typeface="Inter"/>
                  <a:ea typeface="Inter"/>
                  <a:cs typeface="Inter"/>
                  <a:sym typeface="Inter"/>
                </a:rPr>
                <a:t>Deep learning models trained on clean datasets (MIMIC-CXR-JPG, CheXphoto, VinDr-CXR) experience severe performance loss on photographed X-rays due to glare, perspective warp, and moiré patterns.</a:t>
              </a:r>
              <a:endParaRPr b="0" sz="1100">
                <a:solidFill>
                  <a:srgbClr val="1A1D2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750"/>
                </a:spcAft>
                <a:buNone/>
              </a:pPr>
              <a:r>
                <a:rPr b="0" lang="en" sz="1100">
                  <a:solidFill>
                    <a:srgbClr val="1A1D20"/>
                  </a:solidFill>
                  <a:latin typeface="Inter"/>
                  <a:ea typeface="Inter"/>
                  <a:cs typeface="Inter"/>
                  <a:sym typeface="Inter"/>
                </a:rPr>
                <a:t>Low-confidence predictions require actionable re-acquisition rather than unverified claims.</a:t>
              </a:r>
              <a:endParaRPr b="0" sz="1100">
                <a:solidFill>
                  <a:srgbClr val="1A1D2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90" name="Google Shape;9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7238" y="1104900"/>
            <a:ext cx="9600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 txBox="1"/>
          <p:nvPr/>
        </p:nvSpPr>
        <p:spPr>
          <a:xfrm>
            <a:off x="4800600" y="1104900"/>
            <a:ext cx="3886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Research Questions</a:t>
            </a:r>
            <a:endParaRPr b="0" sz="1500">
              <a:solidFill>
                <a:srgbClr val="0056B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56B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r>
              <a:rPr lang="en"/>
              <a:t> </a:t>
            </a:r>
            <a:r>
              <a:rPr b="0" lang="en" sz="1100">
                <a:solidFill>
                  <a:srgbClr val="1A1D20"/>
                </a:solidFill>
                <a:latin typeface="Inter"/>
                <a:ea typeface="Inter"/>
                <a:cs typeface="Inter"/>
                <a:sym typeface="Inter"/>
              </a:rPr>
              <a:t>Can a model remain reliable under real-world photographic distortions?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56B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r>
              <a:rPr lang="en"/>
              <a:t> </a:t>
            </a:r>
            <a:r>
              <a:rPr b="0" lang="en" sz="1100">
                <a:solidFill>
                  <a:srgbClr val="1A1D20"/>
                </a:solidFill>
                <a:latin typeface="Inter"/>
                <a:ea typeface="Inter"/>
                <a:cs typeface="Inter"/>
                <a:sym typeface="Inter"/>
              </a:rPr>
              <a:t>Can the system pinpoint which specific anatomical area is diagnostically inadequate?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56B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r>
              <a:rPr lang="en"/>
              <a:t> </a:t>
            </a:r>
            <a:r>
              <a:rPr b="0" lang="en" sz="1100">
                <a:solidFill>
                  <a:srgbClr val="1A1D20"/>
                </a:solidFill>
                <a:latin typeface="Inter"/>
                <a:ea typeface="Inter"/>
                <a:cs typeface="Inter"/>
                <a:sym typeface="Inter"/>
              </a:rPr>
              <a:t>Can spatial aleatoric uncertainty reliably identify obscured cases needing re-assessment?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56B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r>
              <a:rPr lang="en"/>
              <a:t> </a:t>
            </a:r>
            <a:r>
              <a:rPr b="0" lang="en" sz="1100">
                <a:solidFill>
                  <a:srgbClr val="1A1D20"/>
                </a:solidFill>
                <a:latin typeface="Inter"/>
                <a:ea typeface="Inter"/>
                <a:cs typeface="Inter"/>
                <a:sym typeface="Inter"/>
              </a:rPr>
              <a:t>Can a model choose a specific region where targeted close-up recapture improves prediction confidence?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b="1" lang="en" sz="1100">
                <a:solidFill>
                  <a:srgbClr val="0056B3"/>
                </a:solidFill>
                <a:latin typeface="Inter"/>
                <a:ea typeface="Inter"/>
                <a:cs typeface="Inter"/>
                <a:sym typeface="Inter"/>
              </a:rPr>
              <a:t>5.</a:t>
            </a:r>
            <a:r>
              <a:rPr lang="en"/>
              <a:t> </a:t>
            </a:r>
            <a:r>
              <a:rPr b="0" lang="en" sz="1100">
                <a:solidFill>
                  <a:srgbClr val="1A1D20"/>
                </a:solidFill>
                <a:latin typeface="Inter"/>
                <a:ea typeface="Inter"/>
                <a:cs typeface="Inter"/>
                <a:sym typeface="Inter"/>
              </a:rPr>
              <a:t>Does combining active re-acquisition with macro context outperform standard passive baselines?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1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97" name="Google Shape;97;p1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8" name="Google Shape;98;p16"/>
            <p:cNvGrpSpPr/>
            <p:nvPr/>
          </p:nvGrpSpPr>
          <p:grpSpPr>
            <a:xfrm>
              <a:off x="8343900" y="304800"/>
              <a:ext cx="342900" cy="342900"/>
              <a:chOff x="0" y="0"/>
              <a:chExt cx="342900" cy="342900"/>
            </a:xfrm>
          </p:grpSpPr>
          <p:sp>
            <p:nvSpPr>
              <p:cNvPr id="99" name="Google Shape;99;p16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0056B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16"/>
              <p:cNvSpPr/>
              <p:nvPr/>
            </p:nvSpPr>
            <p:spPr>
              <a:xfrm>
                <a:off x="190500" y="0"/>
                <a:ext cx="152400" cy="152400"/>
              </a:xfrm>
              <a:prstGeom prst="rect">
                <a:avLst/>
              </a:prstGeom>
              <a:solidFill>
                <a:srgbClr val="0D8A9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6"/>
              <p:cNvSpPr/>
              <p:nvPr/>
            </p:nvSpPr>
            <p:spPr>
              <a:xfrm>
                <a:off x="0" y="190500"/>
                <a:ext cx="152400" cy="152400"/>
              </a:xfrm>
              <a:prstGeom prst="rect">
                <a:avLst/>
              </a:prstGeom>
              <a:solidFill>
                <a:srgbClr val="1A1D2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6"/>
              <p:cNvSpPr/>
              <p:nvPr/>
            </p:nvSpPr>
            <p:spPr>
              <a:xfrm>
                <a:off x="190500" y="190500"/>
                <a:ext cx="152400" cy="152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49505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03" name="Google Shape;103;p16"/>
            <p:cNvCxnSpPr/>
            <p:nvPr/>
          </p:nvCxnSpPr>
          <p:spPr>
            <a:xfrm>
              <a:off x="457200" y="9144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EE2E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4" name="Google Shape;104;p16"/>
          <p:cNvSpPr txBox="1"/>
          <p:nvPr/>
        </p:nvSpPr>
        <p:spPr>
          <a:xfrm>
            <a:off x="457200" y="342900"/>
            <a:ext cx="762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A1D20"/>
                </a:solidFill>
                <a:latin typeface="Inter"/>
                <a:ea typeface="Inter"/>
                <a:cs typeface="Inter"/>
                <a:sym typeface="Inter"/>
              </a:rPr>
              <a:t>Literature Benchmark Analysis</a:t>
            </a:r>
            <a:endParaRPr b="1" sz="2400">
              <a:solidFill>
                <a:srgbClr val="1A1D2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457200" y="1143000"/>
            <a:ext cx="3905400" cy="3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Current Model Performance</a:t>
            </a:r>
            <a:endParaRPr b="0" sz="1600">
              <a:solidFill>
                <a:srgbClr val="0056B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CheXphoto Benchmark:</a:t>
            </a:r>
            <a:r>
              <a:rPr b="0" lang="en" sz="1100">
                <a:solidFill>
                  <a:srgbClr val="1A1D20"/>
                </a:solidFill>
                <a:latin typeface="Inter"/>
                <a:ea typeface="Inter"/>
                <a:cs typeface="Inter"/>
                <a:sym typeface="Inter"/>
              </a:rPr>
              <a:t> Standard CheXpert models show a 10–14% ROC AUC drop on smartphone photographs compared to pristine DICOMs (Leaderboard #1 scored 0.850 on film vs 0.890 on digital).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Model Recalibration (Nature 2021):</a:t>
            </a:r>
            <a:r>
              <a:rPr b="0" lang="en" sz="1100">
                <a:solidFill>
                  <a:srgbClr val="1A1D20"/>
                </a:solidFill>
                <a:latin typeface="Inter"/>
                <a:ea typeface="Inter"/>
                <a:cs typeface="Inter"/>
                <a:sym typeface="Inter"/>
              </a:rPr>
              <a:t> Mean AUROC dropped from 0.75 (digital) to 0.67 (photograph). Recalibration with &lt;200 photographs recovered AUROC to 0.75, outperforming transfer learning (0.71) and direct training (0.59).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RoMIA Framework:</a:t>
            </a:r>
            <a:r>
              <a:rPr b="0" lang="en" sz="1100">
                <a:solidFill>
                  <a:srgbClr val="1A1D20"/>
                </a:solidFill>
                <a:latin typeface="Inter"/>
                <a:ea typeface="Inter"/>
                <a:cs typeface="Inter"/>
                <a:sym typeface="Inter"/>
              </a:rPr>
              <a:t> Implements noise-added training, input mixing, and DCT denoising to achieve a 3–5% accuracy improvement (22.6% reduction in misclassifications).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750"/>
              </a:spcAft>
              <a:buNone/>
            </a:pPr>
            <a:r>
              <a:rPr b="0" lang="en" sz="1100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Mamba-YOLOvX &amp; RA-CNN:</a:t>
            </a:r>
            <a:r>
              <a:rPr b="0" lang="en" sz="1100">
                <a:solidFill>
                  <a:srgbClr val="1A1D20"/>
                </a:solidFill>
                <a:latin typeface="Inter"/>
                <a:ea typeface="Inter"/>
                <a:cs typeface="Inter"/>
                <a:sym typeface="Inter"/>
              </a:rPr>
              <a:t> Selective scanning (AP50 improved from 0.16 to 0.174) and recurrent attention localize discriminative regions, but rely purely on digital amplification rather than optical re-acquisition.</a:t>
            </a:r>
            <a:endParaRPr/>
          </a:p>
        </p:txBody>
      </p:sp>
      <p:grpSp>
        <p:nvGrpSpPr>
          <p:cNvPr id="106" name="Google Shape;106;p16"/>
          <p:cNvGrpSpPr/>
          <p:nvPr/>
        </p:nvGrpSpPr>
        <p:grpSpPr>
          <a:xfrm>
            <a:off x="4686300" y="1143000"/>
            <a:ext cx="4000500" cy="3238650"/>
            <a:chOff x="0" y="0"/>
            <a:chExt cx="4000500" cy="3238650"/>
          </a:xfrm>
        </p:grpSpPr>
        <p:sp>
          <p:nvSpPr>
            <p:cNvPr id="107" name="Google Shape;107;p16"/>
            <p:cNvSpPr txBox="1"/>
            <p:nvPr/>
          </p:nvSpPr>
          <p:spPr>
            <a:xfrm>
              <a:off x="0" y="0"/>
              <a:ext cx="4000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1600">
                  <a:solidFill>
                    <a:srgbClr val="0056B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Methodological Gap</a:t>
              </a:r>
              <a:endParaRPr b="0" sz="1600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108" name="Google Shape;108;p16"/>
            <p:cNvGrpSpPr/>
            <p:nvPr/>
          </p:nvGrpSpPr>
          <p:grpSpPr>
            <a:xfrm>
              <a:off x="0" y="381000"/>
              <a:ext cx="4000500" cy="1428900"/>
              <a:chOff x="0" y="0"/>
              <a:chExt cx="4000500" cy="1428900"/>
            </a:xfrm>
          </p:grpSpPr>
          <p:sp>
            <p:nvSpPr>
              <p:cNvPr id="109" name="Google Shape;109;p16"/>
              <p:cNvSpPr/>
              <p:nvPr/>
            </p:nvSpPr>
            <p:spPr>
              <a:xfrm>
                <a:off x="0" y="0"/>
                <a:ext cx="4000500" cy="1428900"/>
              </a:xfrm>
              <a:prstGeom prst="roundRect">
                <a:avLst>
                  <a:gd fmla="val 0" name="adj"/>
                </a:avLst>
              </a:prstGeom>
              <a:solidFill>
                <a:srgbClr val="F4F6F8"/>
              </a:solidFill>
              <a:ln cap="flat" cmpd="sng" w="9525">
                <a:solidFill>
                  <a:srgbClr val="DEE2E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6"/>
              <p:cNvSpPr/>
              <p:nvPr/>
            </p:nvSpPr>
            <p:spPr>
              <a:xfrm>
                <a:off x="0" y="0"/>
                <a:ext cx="38100" cy="1428900"/>
              </a:xfrm>
              <a:prstGeom prst="rect">
                <a:avLst/>
              </a:prstGeom>
              <a:solidFill>
                <a:srgbClr val="0D8A9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6"/>
              <p:cNvSpPr txBox="1"/>
              <p:nvPr/>
            </p:nvSpPr>
            <p:spPr>
              <a:xfrm>
                <a:off x="228600" y="190500"/>
                <a:ext cx="35433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056B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Core Literature Limitation</a:t>
                </a:r>
                <a:endParaRPr b="0" sz="900">
                  <a:solidFill>
                    <a:srgbClr val="0056B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600"/>
                  </a:spcAft>
                  <a:buNone/>
                </a:pPr>
                <a:r>
                  <a:rPr b="0" lang="en" sz="1200">
                    <a:solidFill>
                      <a:srgbClr val="1A1D20"/>
                    </a:solidFill>
                    <a:latin typeface="Inter"/>
                    <a:ea typeface="Inter"/>
                    <a:cs typeface="Inter"/>
                    <a:sym typeface="Inter"/>
                  </a:rPr>
                  <a:t>"Existing approaches attempt digital enhancement or model retraining on degraded inputs. None leverage physical re-acquisition to replace obscured optical signal."</a:t>
                </a:r>
                <a:endParaRPr b="0" sz="1200">
                  <a:solidFill>
                    <a:srgbClr val="1A1D2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2" name="Google Shape;112;p16"/>
            <p:cNvGrpSpPr/>
            <p:nvPr/>
          </p:nvGrpSpPr>
          <p:grpSpPr>
            <a:xfrm>
              <a:off x="0" y="2038350"/>
              <a:ext cx="4000500" cy="1200300"/>
              <a:chOff x="0" y="0"/>
              <a:chExt cx="4000500" cy="1200300"/>
            </a:xfrm>
          </p:grpSpPr>
          <p:sp>
            <p:nvSpPr>
              <p:cNvPr id="113" name="Google Shape;113;p16"/>
              <p:cNvSpPr/>
              <p:nvPr/>
            </p:nvSpPr>
            <p:spPr>
              <a:xfrm>
                <a:off x="0" y="0"/>
                <a:ext cx="4000500" cy="1200300"/>
              </a:xfrm>
              <a:prstGeom prst="rect">
                <a:avLst/>
              </a:prstGeom>
              <a:solidFill>
                <a:srgbClr val="0056B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6"/>
              <p:cNvSpPr txBox="1"/>
              <p:nvPr/>
            </p:nvSpPr>
            <p:spPr>
              <a:xfrm>
                <a:off x="228600" y="190500"/>
                <a:ext cx="3543300" cy="8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Key Opportunity</a:t>
                </a:r>
                <a:endParaRPr b="0" sz="9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FFFFF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Shift focus from purely algorithmic restoration on degraded data toward active physical optical re-acquisition frameworks.</a:t>
                </a:r>
                <a:endParaRPr b="0" sz="1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17"/>
          <p:cNvGrpSpPr/>
          <p:nvPr/>
        </p:nvGrpSpPr>
        <p:grpSpPr>
          <a:xfrm>
            <a:off x="457200" y="304800"/>
            <a:ext cx="8229600" cy="4381500"/>
            <a:chOff x="457200" y="304800"/>
            <a:chExt cx="8229600" cy="4381500"/>
          </a:xfrm>
        </p:grpSpPr>
        <p:grpSp>
          <p:nvGrpSpPr>
            <p:cNvPr id="120" name="Google Shape;120;p17"/>
            <p:cNvGrpSpPr/>
            <p:nvPr/>
          </p:nvGrpSpPr>
          <p:grpSpPr>
            <a:xfrm>
              <a:off x="8343900" y="304800"/>
              <a:ext cx="342900" cy="342900"/>
              <a:chOff x="0" y="0"/>
              <a:chExt cx="342900" cy="342900"/>
            </a:xfrm>
          </p:grpSpPr>
          <p:sp>
            <p:nvSpPr>
              <p:cNvPr id="121" name="Google Shape;121;p17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0056B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17"/>
              <p:cNvSpPr/>
              <p:nvPr/>
            </p:nvSpPr>
            <p:spPr>
              <a:xfrm>
                <a:off x="190500" y="0"/>
                <a:ext cx="152400" cy="152400"/>
              </a:xfrm>
              <a:prstGeom prst="rect">
                <a:avLst/>
              </a:prstGeom>
              <a:solidFill>
                <a:srgbClr val="0D8A9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17"/>
              <p:cNvSpPr/>
              <p:nvPr/>
            </p:nvSpPr>
            <p:spPr>
              <a:xfrm>
                <a:off x="0" y="190500"/>
                <a:ext cx="152400" cy="152400"/>
              </a:xfrm>
              <a:prstGeom prst="rect">
                <a:avLst/>
              </a:prstGeom>
              <a:solidFill>
                <a:srgbClr val="1A1D2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17"/>
              <p:cNvSpPr/>
              <p:nvPr/>
            </p:nvSpPr>
            <p:spPr>
              <a:xfrm>
                <a:off x="190500" y="190500"/>
                <a:ext cx="152400" cy="152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49505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25" name="Google Shape;125;p17"/>
            <p:cNvCxnSpPr/>
            <p:nvPr/>
          </p:nvCxnSpPr>
          <p:spPr>
            <a:xfrm>
              <a:off x="457200" y="9144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EE2E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17"/>
            <p:cNvCxnSpPr/>
            <p:nvPr/>
          </p:nvCxnSpPr>
          <p:spPr>
            <a:xfrm>
              <a:off x="4714875" y="1104900"/>
              <a:ext cx="0" cy="35814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F4F6F8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7" name="Google Shape;127;p17"/>
          <p:cNvSpPr txBox="1"/>
          <p:nvPr/>
        </p:nvSpPr>
        <p:spPr>
          <a:xfrm>
            <a:off x="457200" y="304800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A1D20"/>
                </a:solidFill>
                <a:latin typeface="Inter"/>
                <a:ea typeface="Inter"/>
                <a:cs typeface="Inter"/>
                <a:sym typeface="Inter"/>
              </a:rPr>
              <a:t>Baseline Architecture Breakdown</a:t>
            </a:r>
            <a:endParaRPr b="1" sz="2200">
              <a:solidFill>
                <a:srgbClr val="1A1D2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457200" y="1104900"/>
            <a:ext cx="40671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8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Baseline Classification Models</a:t>
            </a:r>
            <a:endParaRPr b="0" sz="1008">
              <a:solidFill>
                <a:srgbClr val="0056B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297498" lvl="0" marL="457200" rtl="0" algn="l">
              <a:spcBef>
                <a:spcPts val="600"/>
              </a:spcBef>
              <a:spcAft>
                <a:spcPts val="0"/>
              </a:spcAft>
              <a:buSzPts val="1085"/>
              <a:buChar char="●"/>
            </a:pPr>
            <a:r>
              <a:rPr b="0" lang="en" sz="853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Baseline A (Performance Floor):</a:t>
            </a:r>
            <a:r>
              <a:rPr b="0" lang="en" sz="853">
                <a:solidFill>
                  <a:srgbClr val="1A1D20"/>
                </a:solidFill>
                <a:latin typeface="Inter"/>
                <a:ea typeface="Inter"/>
                <a:cs typeface="Inter"/>
                <a:sym typeface="Inter"/>
              </a:rPr>
              <a:t> Standard classification backbone (DenseNet-121 / ResNet-50) trained on clean DICOMs and tested directly on degraded photographs without pre-processing.</a:t>
            </a:r>
            <a:endParaRPr b="0" sz="853">
              <a:solidFill>
                <a:srgbClr val="1A1D2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7498" lvl="0" marL="457200" rtl="0" algn="l">
              <a:spcBef>
                <a:spcPts val="600"/>
              </a:spcBef>
              <a:spcAft>
                <a:spcPts val="0"/>
              </a:spcAft>
              <a:buSzPts val="1085"/>
              <a:buChar char="●"/>
            </a:pPr>
            <a:r>
              <a:rPr b="0" lang="en" sz="853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Baseline B (Synthetic Augmentation):</a:t>
            </a:r>
            <a:r>
              <a:rPr b="0" lang="en" sz="853">
                <a:solidFill>
                  <a:srgbClr val="1A1D20"/>
                </a:solidFill>
                <a:latin typeface="Inter"/>
                <a:ea typeface="Inter"/>
                <a:cs typeface="Inter"/>
                <a:sym typeface="Inter"/>
              </a:rPr>
              <a:t> Backbone trained with heavy synthetic geometric and photometric transformations on clean X-rays.</a:t>
            </a:r>
            <a:endParaRPr b="0" sz="853">
              <a:solidFill>
                <a:srgbClr val="1A1D2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7498" lvl="0" marL="457200" rtl="0" algn="l">
              <a:spcBef>
                <a:spcPts val="600"/>
              </a:spcBef>
              <a:spcAft>
                <a:spcPts val="600"/>
              </a:spcAft>
              <a:buSzPts val="1085"/>
              <a:buChar char="●"/>
            </a:pPr>
            <a:r>
              <a:rPr b="0" lang="en" sz="853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Baseline C (SOTA Passive Restoration):</a:t>
            </a:r>
            <a:r>
              <a:rPr b="0" lang="en" sz="853">
                <a:solidFill>
                  <a:srgbClr val="1A1D20"/>
                </a:solidFill>
                <a:latin typeface="Inter"/>
                <a:ea typeface="Inter"/>
                <a:cs typeface="Inter"/>
                <a:sym typeface="Inter"/>
              </a:rPr>
              <a:t> Algorithmic pre-processing pipeline involving glare removal and homography rectification before passing images to the classifier.</a:t>
            </a:r>
            <a:endParaRPr b="0" sz="853">
              <a:solidFill>
                <a:srgbClr val="1A1D2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9" name="Google Shape;129;p17"/>
          <p:cNvGrpSpPr/>
          <p:nvPr/>
        </p:nvGrpSpPr>
        <p:grpSpPr>
          <a:xfrm>
            <a:off x="457200" y="3190875"/>
            <a:ext cx="4067100" cy="1476300"/>
            <a:chOff x="0" y="0"/>
            <a:chExt cx="4067100" cy="1476300"/>
          </a:xfrm>
        </p:grpSpPr>
        <p:sp>
          <p:nvSpPr>
            <p:cNvPr id="130" name="Google Shape;130;p17"/>
            <p:cNvSpPr/>
            <p:nvPr/>
          </p:nvSpPr>
          <p:spPr>
            <a:xfrm>
              <a:off x="0" y="0"/>
              <a:ext cx="4067100" cy="1476300"/>
            </a:xfrm>
            <a:prstGeom prst="roundRect">
              <a:avLst>
                <a:gd fmla="val 0" name="adj"/>
              </a:avLst>
            </a:prstGeom>
            <a:solidFill>
              <a:srgbClr val="F4F6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1" name="Google Shape;131;p17"/>
            <p:cNvCxnSpPr/>
            <p:nvPr/>
          </p:nvCxnSpPr>
          <p:spPr>
            <a:xfrm>
              <a:off x="0" y="0"/>
              <a:ext cx="0" cy="147630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0D8A9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2" name="Google Shape;132;p17"/>
            <p:cNvSpPr txBox="1"/>
            <p:nvPr/>
          </p:nvSpPr>
          <p:spPr>
            <a:xfrm>
              <a:off x="152400" y="133350"/>
              <a:ext cx="37623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20">
                  <a:solidFill>
                    <a:srgbClr val="0D8A9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Limitations of Passive Restoration</a:t>
              </a:r>
              <a:endParaRPr b="0" sz="1020">
                <a:solidFill>
                  <a:srgbClr val="0D8A9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04165" lvl="0" marL="457200" rtl="0" algn="l">
                <a:spcBef>
                  <a:spcPts val="450"/>
                </a:spcBef>
                <a:spcAft>
                  <a:spcPts val="0"/>
                </a:spcAft>
                <a:buSzPts val="1190"/>
                <a:buChar char="●"/>
              </a:pPr>
              <a:r>
                <a:rPr b="0" lang="en" sz="893">
                  <a:solidFill>
                    <a:srgbClr val="1A1D2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Algorithmic Hallucination:</a:t>
              </a:r>
              <a:r>
                <a:rPr b="0" lang="en" sz="893">
                  <a:solidFill>
                    <a:srgbClr val="1A1D20"/>
                  </a:solidFill>
                  <a:latin typeface="Inter"/>
                  <a:ea typeface="Inter"/>
                  <a:cs typeface="Inter"/>
                  <a:sym typeface="Inter"/>
                </a:rPr>
                <a:t> Passive baselines mathematically guess pixel values beneath glare artifacts, failing to recover true underlying tissue structures.</a:t>
              </a:r>
              <a:endParaRPr b="0" sz="893">
                <a:solidFill>
                  <a:srgbClr val="1A1D2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165" lvl="0" marL="457200" rtl="0" algn="l">
                <a:spcBef>
                  <a:spcPts val="450"/>
                </a:spcBef>
                <a:spcAft>
                  <a:spcPts val="450"/>
                </a:spcAft>
                <a:buSzPts val="1190"/>
                <a:buChar char="●"/>
              </a:pPr>
              <a:r>
                <a:rPr b="0" lang="en" sz="893">
                  <a:solidFill>
                    <a:srgbClr val="1A1D2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High False Negative Rate (FNR):</a:t>
              </a:r>
              <a:r>
                <a:rPr b="0" lang="en" sz="893">
                  <a:solidFill>
                    <a:srgbClr val="1A1D20"/>
                  </a:solidFill>
                  <a:latin typeface="Inter"/>
                  <a:ea typeface="Inter"/>
                  <a:cs typeface="Inter"/>
                  <a:sym typeface="Inter"/>
                </a:rPr>
                <a:t> Obscured focal pathologies (e.g., small pneumothorax or nodules) remain unrectified, maintaining an unacceptably high FNR in clinical settings.</a:t>
              </a:r>
              <a:endParaRPr b="0" sz="893">
                <a:solidFill>
                  <a:srgbClr val="1A1D2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3" name="Google Shape;133;p17"/>
          <p:cNvGrpSpPr/>
          <p:nvPr/>
        </p:nvGrpSpPr>
        <p:grpSpPr>
          <a:xfrm>
            <a:off x="4905375" y="1104900"/>
            <a:ext cx="3781500" cy="3562350"/>
            <a:chOff x="0" y="0"/>
            <a:chExt cx="3781500" cy="3562350"/>
          </a:xfrm>
        </p:grpSpPr>
        <p:pic>
          <p:nvPicPr>
            <p:cNvPr id="134" name="Google Shape;134;p17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0" y="0"/>
              <a:ext cx="3781500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p17"/>
            <p:cNvSpPr txBox="1"/>
            <p:nvPr/>
          </p:nvSpPr>
          <p:spPr>
            <a:xfrm>
              <a:off x="0" y="2609850"/>
              <a:ext cx="3781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1D2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Figure 1: Sample Smartphone Glare Photograph</a:t>
              </a:r>
              <a:endParaRPr b="0" sz="1000">
                <a:solidFill>
                  <a:srgbClr val="1A1D2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450"/>
                </a:spcAft>
                <a:buNone/>
              </a:pPr>
              <a:r>
                <a:rPr b="0" lang="en" sz="1000">
                  <a:solidFill>
                    <a:srgbClr val="495057"/>
                  </a:solidFill>
                  <a:latin typeface="Inter"/>
                  <a:ea typeface="Inter"/>
                  <a:cs typeface="Inter"/>
                  <a:sym typeface="Inter"/>
                </a:rPr>
                <a:t>Degraded screen acquisition exhibiting severe specular reflection and geometric distortion, illustrating the clinical challenges encountered by standard baseline classifiers and passive restoration models.</a:t>
              </a:r>
              <a:endParaRPr b="0" sz="1000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41" name="Google Shape;141;p1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2" name="Google Shape;142;p18"/>
            <p:cNvGrpSpPr/>
            <p:nvPr/>
          </p:nvGrpSpPr>
          <p:grpSpPr>
            <a:xfrm>
              <a:off x="8343900" y="304800"/>
              <a:ext cx="342900" cy="342900"/>
              <a:chOff x="0" y="0"/>
              <a:chExt cx="342900" cy="342900"/>
            </a:xfrm>
          </p:grpSpPr>
          <p:sp>
            <p:nvSpPr>
              <p:cNvPr id="143" name="Google Shape;143;p18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0056B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8"/>
              <p:cNvSpPr/>
              <p:nvPr/>
            </p:nvSpPr>
            <p:spPr>
              <a:xfrm>
                <a:off x="190500" y="0"/>
                <a:ext cx="152400" cy="152400"/>
              </a:xfrm>
              <a:prstGeom prst="rect">
                <a:avLst/>
              </a:prstGeom>
              <a:solidFill>
                <a:srgbClr val="0D8A9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8"/>
              <p:cNvSpPr/>
              <p:nvPr/>
            </p:nvSpPr>
            <p:spPr>
              <a:xfrm>
                <a:off x="0" y="190500"/>
                <a:ext cx="152400" cy="152400"/>
              </a:xfrm>
              <a:prstGeom prst="rect">
                <a:avLst/>
              </a:prstGeom>
              <a:solidFill>
                <a:srgbClr val="1A1D2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8"/>
              <p:cNvSpPr/>
              <p:nvPr/>
            </p:nvSpPr>
            <p:spPr>
              <a:xfrm>
                <a:off x="190500" y="190500"/>
                <a:ext cx="152400" cy="152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49505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7" name="Google Shape;147;p18"/>
            <p:cNvCxnSpPr/>
            <p:nvPr/>
          </p:nvCxnSpPr>
          <p:spPr>
            <a:xfrm>
              <a:off x="457200" y="85725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EE2E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8" name="Google Shape;148;p18"/>
          <p:cNvSpPr txBox="1"/>
          <p:nvPr/>
        </p:nvSpPr>
        <p:spPr>
          <a:xfrm>
            <a:off x="457200" y="266700"/>
            <a:ext cx="7620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1A1D20"/>
                </a:solidFill>
                <a:latin typeface="Inter"/>
                <a:ea typeface="Inter"/>
                <a:cs typeface="Inter"/>
                <a:sym typeface="Inter"/>
              </a:rPr>
              <a:t>System Architecture &amp; Mechanics</a:t>
            </a:r>
            <a:endParaRPr b="1" sz="1850">
              <a:solidFill>
                <a:srgbClr val="1A1D2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203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Methodological Paradigm Shift: Active, Uncertainty-Guided Optical Re-Acquisition</a:t>
            </a:r>
            <a:endParaRPr b="0" sz="1203">
              <a:solidFill>
                <a:srgbClr val="0056B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149" name="Google Shape;149;p18"/>
          <p:cNvGrpSpPr/>
          <p:nvPr/>
        </p:nvGrpSpPr>
        <p:grpSpPr>
          <a:xfrm>
            <a:off x="457200" y="1047750"/>
            <a:ext cx="1714500" cy="3619500"/>
            <a:chOff x="0" y="0"/>
            <a:chExt cx="1714500" cy="3619500"/>
          </a:xfrm>
        </p:grpSpPr>
        <p:sp>
          <p:nvSpPr>
            <p:cNvPr id="150" name="Google Shape;150;p18"/>
            <p:cNvSpPr/>
            <p:nvPr/>
          </p:nvSpPr>
          <p:spPr>
            <a:xfrm>
              <a:off x="0" y="0"/>
              <a:ext cx="1714500" cy="3619500"/>
            </a:xfrm>
            <a:prstGeom prst="roundRect">
              <a:avLst>
                <a:gd fmla="val 1111" name="adj"/>
              </a:avLst>
            </a:prstGeom>
            <a:solidFill>
              <a:srgbClr val="F4F6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152400" y="152400"/>
              <a:ext cx="266700" cy="266700"/>
            </a:xfrm>
            <a:prstGeom prst="roundRect">
              <a:avLst>
                <a:gd fmla="val 7142" name="adj"/>
              </a:avLst>
            </a:prstGeom>
            <a:solidFill>
              <a:srgbClr val="0056B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8"/>
            <p:cNvSpPr txBox="1"/>
            <p:nvPr/>
          </p:nvSpPr>
          <p:spPr>
            <a:xfrm>
              <a:off x="152400" y="152400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</a:t>
              </a:r>
              <a:endParaRPr b="0" sz="11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152400" y="514350"/>
              <a:ext cx="14097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0056B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Spatial Aleatoric Uncertainty</a:t>
              </a:r>
              <a:endParaRPr b="0" sz="1050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850">
                  <a:solidFill>
                    <a:srgbClr val="495057"/>
                  </a:solidFill>
                  <a:latin typeface="Inter"/>
                  <a:ea typeface="Inter"/>
                  <a:cs typeface="Inter"/>
                  <a:sym typeface="Inter"/>
                </a:rPr>
                <a:t>Measures pixel-wise sensor noise and specular glare.</a:t>
              </a:r>
              <a:endParaRPr b="0" sz="850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300"/>
                </a:spcBef>
                <a:spcAft>
                  <a:spcPts val="300"/>
                </a:spcAft>
                <a:buSzPts val="1400"/>
                <a:buChar char="●"/>
              </a:pPr>
              <a:r>
                <a:rPr b="0" lang="en" sz="850">
                  <a:solidFill>
                    <a:srgbClr val="495057"/>
                  </a:solidFill>
                  <a:latin typeface="Inter"/>
                  <a:ea typeface="Inter"/>
                  <a:cs typeface="Inter"/>
                  <a:sym typeface="Inter"/>
                </a:rPr>
                <a:t>Intersects uncertainty maps with diagnostic task saliency to determine if an obscured region (e.g., lung apex) is clinically critical.</a:t>
              </a:r>
              <a:endParaRPr b="0" sz="850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4" name="Google Shape;154;p18"/>
          <p:cNvGrpSpPr/>
          <p:nvPr/>
        </p:nvGrpSpPr>
        <p:grpSpPr>
          <a:xfrm>
            <a:off x="2286000" y="1047750"/>
            <a:ext cx="1714500" cy="3619500"/>
            <a:chOff x="0" y="0"/>
            <a:chExt cx="1714500" cy="3619500"/>
          </a:xfrm>
        </p:grpSpPr>
        <p:sp>
          <p:nvSpPr>
            <p:cNvPr id="155" name="Google Shape;155;p18"/>
            <p:cNvSpPr/>
            <p:nvPr/>
          </p:nvSpPr>
          <p:spPr>
            <a:xfrm>
              <a:off x="0" y="0"/>
              <a:ext cx="1714500" cy="3619500"/>
            </a:xfrm>
            <a:prstGeom prst="roundRect">
              <a:avLst>
                <a:gd fmla="val 1111" name="adj"/>
              </a:avLst>
            </a:prstGeom>
            <a:solidFill>
              <a:srgbClr val="F4F6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152400" y="152400"/>
              <a:ext cx="266700" cy="266700"/>
            </a:xfrm>
            <a:prstGeom prst="roundRect">
              <a:avLst>
                <a:gd fmla="val 7142" name="adj"/>
              </a:avLst>
            </a:prstGeom>
            <a:solidFill>
              <a:srgbClr val="0056B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8"/>
            <p:cNvSpPr txBox="1"/>
            <p:nvPr/>
          </p:nvSpPr>
          <p:spPr>
            <a:xfrm>
              <a:off x="152400" y="152400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</a:t>
              </a:r>
              <a:endParaRPr b="0" sz="11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58" name="Google Shape;158;p18"/>
            <p:cNvSpPr txBox="1"/>
            <p:nvPr/>
          </p:nvSpPr>
          <p:spPr>
            <a:xfrm>
              <a:off x="152400" y="514350"/>
              <a:ext cx="14097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0056B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Targeted User Prompting</a:t>
              </a:r>
              <a:endParaRPr b="0" sz="1050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300"/>
                </a:spcAft>
                <a:buSzPts val="1400"/>
                <a:buChar char="●"/>
              </a:pPr>
              <a:r>
                <a:rPr b="0" lang="en" sz="850">
                  <a:solidFill>
                    <a:srgbClr val="495057"/>
                  </a:solidFill>
                  <a:latin typeface="Inter"/>
                  <a:ea typeface="Inter"/>
                  <a:cs typeface="Inter"/>
                  <a:sym typeface="Inter"/>
                </a:rPr>
                <a:t>If an obscured area is diagnostically critical, the system prompts the user for a targeted, close-up photograph of just that region.</a:t>
              </a:r>
              <a:endParaRPr b="0" sz="850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9" name="Google Shape;159;p18"/>
          <p:cNvGrpSpPr/>
          <p:nvPr/>
        </p:nvGrpSpPr>
        <p:grpSpPr>
          <a:xfrm>
            <a:off x="4114800" y="1047750"/>
            <a:ext cx="1714500" cy="3619500"/>
            <a:chOff x="0" y="0"/>
            <a:chExt cx="1714500" cy="3619500"/>
          </a:xfrm>
        </p:grpSpPr>
        <p:sp>
          <p:nvSpPr>
            <p:cNvPr id="160" name="Google Shape;160;p18"/>
            <p:cNvSpPr/>
            <p:nvPr/>
          </p:nvSpPr>
          <p:spPr>
            <a:xfrm>
              <a:off x="0" y="0"/>
              <a:ext cx="1714500" cy="3619500"/>
            </a:xfrm>
            <a:prstGeom prst="roundRect">
              <a:avLst>
                <a:gd fmla="val 1111" name="adj"/>
              </a:avLst>
            </a:prstGeom>
            <a:solidFill>
              <a:srgbClr val="F4F6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8"/>
            <p:cNvSpPr/>
            <p:nvPr/>
          </p:nvSpPr>
          <p:spPr>
            <a:xfrm>
              <a:off x="152400" y="152400"/>
              <a:ext cx="266700" cy="266700"/>
            </a:xfrm>
            <a:prstGeom prst="roundRect">
              <a:avLst>
                <a:gd fmla="val 7142" name="adj"/>
              </a:avLst>
            </a:prstGeom>
            <a:solidFill>
              <a:srgbClr val="0056B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8"/>
            <p:cNvSpPr txBox="1"/>
            <p:nvPr/>
          </p:nvSpPr>
          <p:spPr>
            <a:xfrm>
              <a:off x="152400" y="152400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3</a:t>
              </a:r>
              <a:endParaRPr b="0" sz="11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63" name="Google Shape;163;p18"/>
            <p:cNvSpPr txBox="1"/>
            <p:nvPr/>
          </p:nvSpPr>
          <p:spPr>
            <a:xfrm>
              <a:off x="152400" y="514350"/>
              <a:ext cx="14097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0056B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Two-Branch CNN &amp; Feature Fusion</a:t>
              </a:r>
              <a:endParaRPr b="0" sz="1050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850">
                  <a:solidFill>
                    <a:srgbClr val="49505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Global Branch:</a:t>
              </a:r>
              <a:r>
                <a:rPr b="0" lang="en" sz="850">
                  <a:solidFill>
                    <a:srgbClr val="495057"/>
                  </a:solidFill>
                  <a:latin typeface="Inter"/>
                  <a:ea typeface="Inter"/>
                  <a:cs typeface="Inter"/>
                  <a:sym typeface="Inter"/>
                </a:rPr>
                <a:t> Processes full-frame photo for macro-anatomical context.</a:t>
              </a:r>
              <a:endParaRPr b="0" sz="850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3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850">
                  <a:solidFill>
                    <a:srgbClr val="49505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Local Branch:</a:t>
              </a:r>
              <a:r>
                <a:rPr b="0" lang="en" sz="850">
                  <a:solidFill>
                    <a:srgbClr val="495057"/>
                  </a:solidFill>
                  <a:latin typeface="Inter"/>
                  <a:ea typeface="Inter"/>
                  <a:cs typeface="Inter"/>
                  <a:sym typeface="Inter"/>
                </a:rPr>
                <a:t> Processes high-frequency close-up for fine optical detail.</a:t>
              </a:r>
              <a:endParaRPr b="0" sz="850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300"/>
                </a:spcBef>
                <a:spcAft>
                  <a:spcPts val="300"/>
                </a:spcAft>
                <a:buSzPts val="1400"/>
                <a:buChar char="●"/>
              </a:pPr>
              <a:r>
                <a:rPr b="0" lang="en" sz="850">
                  <a:solidFill>
                    <a:srgbClr val="49505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Attention Mechanism:</a:t>
              </a:r>
              <a:r>
                <a:rPr b="0" lang="en" sz="850">
                  <a:solidFill>
                    <a:srgbClr val="495057"/>
                  </a:solidFill>
                  <a:latin typeface="Inter"/>
                  <a:ea typeface="Inter"/>
                  <a:cs typeface="Inter"/>
                  <a:sym typeface="Inter"/>
                </a:rPr>
                <a:t> Dynamically fuses feature maps for accurate classification.</a:t>
              </a:r>
              <a:endParaRPr b="0" sz="850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4" name="Google Shape;164;p18"/>
          <p:cNvGrpSpPr/>
          <p:nvPr/>
        </p:nvGrpSpPr>
        <p:grpSpPr>
          <a:xfrm>
            <a:off x="6019800" y="1047750"/>
            <a:ext cx="2667000" cy="3619500"/>
            <a:chOff x="0" y="0"/>
            <a:chExt cx="2667000" cy="3619500"/>
          </a:xfrm>
        </p:grpSpPr>
        <p:sp>
          <p:nvSpPr>
            <p:cNvPr id="165" name="Google Shape;165;p18"/>
            <p:cNvSpPr/>
            <p:nvPr/>
          </p:nvSpPr>
          <p:spPr>
            <a:xfrm>
              <a:off x="0" y="0"/>
              <a:ext cx="2667000" cy="3619500"/>
            </a:xfrm>
            <a:prstGeom prst="roundRect">
              <a:avLst>
                <a:gd fmla="val 714" name="adj"/>
              </a:avLst>
            </a:prstGeom>
            <a:solidFill>
              <a:srgbClr val="FFFFFF"/>
            </a:solidFill>
            <a:ln cap="flat" cmpd="sng" w="9525">
              <a:solidFill>
                <a:srgbClr val="DEE2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8"/>
            <p:cNvSpPr txBox="1"/>
            <p:nvPr/>
          </p:nvSpPr>
          <p:spPr>
            <a:xfrm>
              <a:off x="152400" y="133350"/>
              <a:ext cx="2362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D2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Reference DICOM X-Ray</a:t>
              </a:r>
              <a:endParaRPr b="0" sz="1050">
                <a:solidFill>
                  <a:srgbClr val="1A1D2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pic>
          <p:nvPicPr>
            <p:cNvPr id="167" name="Google Shape;167;p18"/>
            <p:cNvPicPr preferRelativeResize="0"/>
            <p:nvPr/>
          </p:nvPicPr>
          <p:blipFill rotWithShape="1">
            <a:blip r:embed="rId3">
              <a:alphaModFix/>
            </a:blip>
            <a:srcRect b="179" l="0" r="0" t="179"/>
            <a:stretch/>
          </p:blipFill>
          <p:spPr>
            <a:xfrm>
              <a:off x="152400" y="400050"/>
              <a:ext cx="2362200" cy="201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18"/>
            <p:cNvSpPr/>
            <p:nvPr/>
          </p:nvSpPr>
          <p:spPr>
            <a:xfrm>
              <a:off x="152400" y="2533650"/>
              <a:ext cx="2362200" cy="933600"/>
            </a:xfrm>
            <a:prstGeom prst="roundRect">
              <a:avLst>
                <a:gd fmla="val 2040" name="adj"/>
              </a:avLst>
            </a:prstGeom>
            <a:solidFill>
              <a:srgbClr val="F4F6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8"/>
            <p:cNvSpPr txBox="1"/>
            <p:nvPr/>
          </p:nvSpPr>
          <p:spPr>
            <a:xfrm>
              <a:off x="247650" y="2609850"/>
              <a:ext cx="2171700" cy="7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D8A9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Diagnostic Scan Target</a:t>
              </a:r>
              <a:endParaRPr b="0" sz="850">
                <a:solidFill>
                  <a:srgbClr val="0D8A9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495057"/>
                  </a:solidFill>
                  <a:latin typeface="Inter"/>
                  <a:ea typeface="Inter"/>
                  <a:cs typeface="Inter"/>
                  <a:sym typeface="Inter"/>
                </a:rPr>
                <a:t>Saliency analysis identifies region-of-interest parameters before directing the local re-acquisition branch.</a:t>
              </a:r>
              <a:endParaRPr b="0" sz="850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5" name="Google Shape;175;p19"/>
          <p:cNvGrpSpPr/>
          <p:nvPr/>
        </p:nvGrpSpPr>
        <p:grpSpPr>
          <a:xfrm>
            <a:off x="8343900" y="304800"/>
            <a:ext cx="342900" cy="342900"/>
            <a:chOff x="0" y="0"/>
            <a:chExt cx="342900" cy="342900"/>
          </a:xfrm>
        </p:grpSpPr>
        <p:sp>
          <p:nvSpPr>
            <p:cNvPr id="176" name="Google Shape;176;p19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56B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9"/>
            <p:cNvSpPr/>
            <p:nvPr/>
          </p:nvSpPr>
          <p:spPr>
            <a:xfrm>
              <a:off x="190500" y="0"/>
              <a:ext cx="152400" cy="152400"/>
            </a:xfrm>
            <a:prstGeom prst="rect">
              <a:avLst/>
            </a:prstGeom>
            <a:solidFill>
              <a:srgbClr val="0D8A9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9"/>
            <p:cNvSpPr/>
            <p:nvPr/>
          </p:nvSpPr>
          <p:spPr>
            <a:xfrm>
              <a:off x="0" y="190500"/>
              <a:ext cx="152400" cy="152400"/>
            </a:xfrm>
            <a:prstGeom prst="rect">
              <a:avLst/>
            </a:prstGeom>
            <a:solidFill>
              <a:srgbClr val="1A1D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9"/>
            <p:cNvSpPr/>
            <p:nvPr/>
          </p:nvSpPr>
          <p:spPr>
            <a:xfrm>
              <a:off x="190500" y="190500"/>
              <a:ext cx="152400" cy="152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4950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80" name="Google Shape;180;p19"/>
          <p:cNvCxnSpPr/>
          <p:nvPr/>
        </p:nvCxnSpPr>
        <p:spPr>
          <a:xfrm>
            <a:off x="457200" y="8382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1" name="Google Shape;1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6738" y="1028700"/>
            <a:ext cx="9600" cy="37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457200" y="304800"/>
            <a:ext cx="762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A1D20"/>
                </a:solidFill>
                <a:latin typeface="Inter"/>
                <a:ea typeface="Inter"/>
                <a:cs typeface="Inter"/>
                <a:sym typeface="Inter"/>
              </a:rPr>
              <a:t>Expected Outcomes &amp; Interactive Prototype</a:t>
            </a:r>
            <a:endParaRPr b="1" sz="2400">
              <a:solidFill>
                <a:srgbClr val="1A1D2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83" name="Google Shape;183;p19"/>
          <p:cNvGrpSpPr/>
          <p:nvPr/>
        </p:nvGrpSpPr>
        <p:grpSpPr>
          <a:xfrm>
            <a:off x="457200" y="1028700"/>
            <a:ext cx="3619500" cy="3143400"/>
            <a:chOff x="0" y="0"/>
            <a:chExt cx="3619500" cy="3143400"/>
          </a:xfrm>
        </p:grpSpPr>
        <p:grpSp>
          <p:nvGrpSpPr>
            <p:cNvPr id="184" name="Google Shape;184;p19"/>
            <p:cNvGrpSpPr/>
            <p:nvPr/>
          </p:nvGrpSpPr>
          <p:grpSpPr>
            <a:xfrm>
              <a:off x="0" y="0"/>
              <a:ext cx="3619500" cy="1314600"/>
              <a:chOff x="0" y="0"/>
              <a:chExt cx="3619500" cy="1314600"/>
            </a:xfrm>
          </p:grpSpPr>
          <p:sp>
            <p:nvSpPr>
              <p:cNvPr id="185" name="Google Shape;185;p19"/>
              <p:cNvSpPr txBox="1"/>
              <p:nvPr/>
            </p:nvSpPr>
            <p:spPr>
              <a:xfrm>
                <a:off x="0" y="0"/>
                <a:ext cx="361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b="0" lang="en" sz="1400">
                    <a:solidFill>
                      <a:srgbClr val="0056B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Expected Research Outcomes</a:t>
                </a:r>
                <a:endParaRPr b="0" sz="1400">
                  <a:solidFill>
                    <a:srgbClr val="0056B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86" name="Google Shape;186;p19"/>
              <p:cNvSpPr txBox="1"/>
              <p:nvPr/>
            </p:nvSpPr>
            <p:spPr>
              <a:xfrm>
                <a:off x="0" y="266700"/>
                <a:ext cx="36195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310833" lvl="0" marL="457200" rtl="0" algn="l">
                  <a:spcBef>
                    <a:spcPts val="0"/>
                  </a:spcBef>
                  <a:spcAft>
                    <a:spcPts val="0"/>
                  </a:spcAft>
                  <a:buSzPts val="1295"/>
                  <a:buChar char="●"/>
                </a:pPr>
                <a:r>
                  <a:rPr b="1" lang="en" sz="925">
                    <a:solidFill>
                      <a:srgbClr val="1A1D20"/>
                    </a:solidFill>
                    <a:latin typeface="Inter"/>
                    <a:ea typeface="Inter"/>
                    <a:cs typeface="Inter"/>
                    <a:sym typeface="Inter"/>
                  </a:rPr>
                  <a:t>Recover AUROC:</a:t>
                </a:r>
                <a:r>
                  <a:rPr b="0" lang="en" sz="925">
                    <a:solidFill>
                      <a:srgbClr val="1A1D20"/>
                    </a:solidFill>
                    <a:latin typeface="Inter"/>
                    <a:ea typeface="Inter"/>
                    <a:cs typeface="Inter"/>
                    <a:sym typeface="Inter"/>
                  </a:rPr>
                  <a:t> Close the performance gap between smartphone-photographed X-rays and pristine digital DICOM scans.</a:t>
                </a:r>
                <a:endParaRPr b="0" sz="925">
                  <a:solidFill>
                    <a:srgbClr val="1A1D2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0833" lvl="0" marL="457200" rtl="0" algn="l">
                  <a:spcBef>
                    <a:spcPts val="450"/>
                  </a:spcBef>
                  <a:spcAft>
                    <a:spcPts val="450"/>
                  </a:spcAft>
                  <a:buSzPts val="1295"/>
                  <a:buChar char="●"/>
                </a:pPr>
                <a:r>
                  <a:rPr b="1" lang="en" sz="925">
                    <a:solidFill>
                      <a:srgbClr val="1A1D20"/>
                    </a:solidFill>
                    <a:latin typeface="Inter"/>
                    <a:ea typeface="Inter"/>
                    <a:cs typeface="Inter"/>
                    <a:sym typeface="Inter"/>
                  </a:rPr>
                  <a:t>Reduce False Negative Rate:</a:t>
                </a:r>
                <a:r>
                  <a:rPr b="0" lang="en" sz="925">
                    <a:solidFill>
                      <a:srgbClr val="1A1D20"/>
                    </a:solidFill>
                    <a:latin typeface="Inter"/>
                    <a:ea typeface="Inter"/>
                    <a:cs typeface="Inter"/>
                    <a:sym typeface="Inter"/>
                  </a:rPr>
                  <a:t> Drastically lower FNR for focal thoracic pathologies vulnerable to specular glare masking.</a:t>
                </a:r>
                <a:endParaRPr b="0" sz="925">
                  <a:solidFill>
                    <a:srgbClr val="1A1D2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87" name="Google Shape;187;p19"/>
            <p:cNvGrpSpPr/>
            <p:nvPr/>
          </p:nvGrpSpPr>
          <p:grpSpPr>
            <a:xfrm>
              <a:off x="0" y="1352550"/>
              <a:ext cx="3619500" cy="1790850"/>
              <a:chOff x="0" y="0"/>
              <a:chExt cx="3619500" cy="1790850"/>
            </a:xfrm>
          </p:grpSpPr>
          <p:sp>
            <p:nvSpPr>
              <p:cNvPr id="188" name="Google Shape;188;p19"/>
              <p:cNvSpPr txBox="1"/>
              <p:nvPr/>
            </p:nvSpPr>
            <p:spPr>
              <a:xfrm>
                <a:off x="0" y="0"/>
                <a:ext cx="361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b="0" lang="en" sz="1400">
                    <a:solidFill>
                      <a:srgbClr val="0056B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Quality &amp; Uncertainty Metrics</a:t>
                </a:r>
                <a:endParaRPr b="0" sz="1400">
                  <a:solidFill>
                    <a:srgbClr val="0056B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grpSp>
            <p:nvGrpSpPr>
              <p:cNvPr id="189" name="Google Shape;189;p19"/>
              <p:cNvGrpSpPr/>
              <p:nvPr/>
            </p:nvGrpSpPr>
            <p:grpSpPr>
              <a:xfrm>
                <a:off x="0" y="266700"/>
                <a:ext cx="3619500" cy="762000"/>
                <a:chOff x="0" y="0"/>
                <a:chExt cx="3619500" cy="762000"/>
              </a:xfrm>
            </p:grpSpPr>
            <p:sp>
              <p:nvSpPr>
                <p:cNvPr id="190" name="Google Shape;190;p19"/>
                <p:cNvSpPr/>
                <p:nvPr/>
              </p:nvSpPr>
              <p:spPr>
                <a:xfrm>
                  <a:off x="0" y="0"/>
                  <a:ext cx="3619500" cy="762000"/>
                </a:xfrm>
                <a:prstGeom prst="roundRect">
                  <a:avLst>
                    <a:gd fmla="val 2500" name="adj"/>
                  </a:avLst>
                </a:prstGeom>
                <a:solidFill>
                  <a:srgbClr val="0056B3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" name="Google Shape;191;p19"/>
                <p:cNvSpPr txBox="1"/>
                <p:nvPr/>
              </p:nvSpPr>
              <p:spPr>
                <a:xfrm>
                  <a:off x="152400" y="114300"/>
                  <a:ext cx="33147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50">
                      <a:solidFill>
                        <a:srgbClr val="FFFFFF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Expected Calibration Error (ECE)</a:t>
                  </a:r>
                  <a:endParaRPr b="0" sz="105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950">
                      <a:solidFill>
                        <a:srgbClr val="FFFFFF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Measures alignment between model prediction confidence and actual classification accuracy.</a:t>
                  </a:r>
                  <a:endParaRPr b="0" sz="95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192" name="Google Shape;192;p19"/>
              <p:cNvGrpSpPr/>
              <p:nvPr/>
            </p:nvGrpSpPr>
            <p:grpSpPr>
              <a:xfrm>
                <a:off x="0" y="1123950"/>
                <a:ext cx="3619500" cy="666900"/>
                <a:chOff x="0" y="0"/>
                <a:chExt cx="3619500" cy="666900"/>
              </a:xfrm>
            </p:grpSpPr>
            <p:cxnSp>
              <p:nvCxnSpPr>
                <p:cNvPr id="193" name="Google Shape;193;p19"/>
                <p:cNvCxnSpPr/>
                <p:nvPr/>
              </p:nvCxnSpPr>
              <p:spPr>
                <a:xfrm>
                  <a:off x="0" y="0"/>
                  <a:ext cx="0" cy="66690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38100">
                  <a:solidFill>
                    <a:srgbClr val="0D8A9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94" name="Google Shape;194;p19"/>
                <p:cNvSpPr txBox="1"/>
                <p:nvPr/>
              </p:nvSpPr>
              <p:spPr>
                <a:xfrm>
                  <a:off x="152400" y="19050"/>
                  <a:ext cx="3467100" cy="647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705">
                      <a:solidFill>
                        <a:srgbClr val="0D8A95"/>
                      </a:solidFill>
                      <a:latin typeface="Inter ExtraBold"/>
                      <a:ea typeface="Inter ExtraBold"/>
                      <a:cs typeface="Inter ExtraBold"/>
                      <a:sym typeface="Inter ExtraBold"/>
                    </a:rPr>
                    <a:t>&lt; 15% Target</a:t>
                  </a:r>
                  <a:endParaRPr b="0" sz="1705">
                    <a:solidFill>
                      <a:srgbClr val="0D8A95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endParaRPr>
                </a:p>
                <a:p>
                  <a:pPr indent="0" lvl="0" marL="0" rtl="0" algn="l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0" lang="en" sz="698">
                      <a:solidFill>
                        <a:srgbClr val="1A1D20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Recapture Efficiency</a:t>
                  </a:r>
                  <a:endParaRPr b="0" sz="698">
                    <a:solidFill>
                      <a:srgbClr val="1A1D2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698">
                      <a:solidFill>
                        <a:srgbClr val="495057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Tracks percentage of images triggering recapture to ensure clinical practicality.</a:t>
                  </a:r>
                  <a:endParaRPr b="0" sz="698">
                    <a:solidFill>
                      <a:srgbClr val="495057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  <p:grpSp>
        <p:nvGrpSpPr>
          <p:cNvPr id="195" name="Google Shape;195;p19"/>
          <p:cNvGrpSpPr/>
          <p:nvPr/>
        </p:nvGrpSpPr>
        <p:grpSpPr>
          <a:xfrm>
            <a:off x="4686300" y="1028700"/>
            <a:ext cx="4000500" cy="3295650"/>
            <a:chOff x="0" y="0"/>
            <a:chExt cx="4000500" cy="3295650"/>
          </a:xfrm>
        </p:grpSpPr>
        <p:sp>
          <p:nvSpPr>
            <p:cNvPr id="196" name="Google Shape;196;p19"/>
            <p:cNvSpPr txBox="1"/>
            <p:nvPr/>
          </p:nvSpPr>
          <p:spPr>
            <a:xfrm>
              <a:off x="0" y="0"/>
              <a:ext cx="4000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1400">
                  <a:solidFill>
                    <a:srgbClr val="0056B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Interactive Prototype Workflow</a:t>
              </a:r>
              <a:endParaRPr b="0" sz="1400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197" name="Google Shape;197;p19"/>
            <p:cNvGrpSpPr/>
            <p:nvPr/>
          </p:nvGrpSpPr>
          <p:grpSpPr>
            <a:xfrm>
              <a:off x="0" y="285750"/>
              <a:ext cx="3943500" cy="3009900"/>
              <a:chOff x="0" y="0"/>
              <a:chExt cx="3943500" cy="3009900"/>
            </a:xfrm>
          </p:grpSpPr>
          <p:cxnSp>
            <p:nvCxnSpPr>
              <p:cNvPr id="198" name="Google Shape;198;p19"/>
              <p:cNvCxnSpPr/>
              <p:nvPr/>
            </p:nvCxnSpPr>
            <p:spPr>
              <a:xfrm>
                <a:off x="152400" y="152400"/>
                <a:ext cx="0" cy="28005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DEE2E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99" name="Google Shape;199;p19"/>
              <p:cNvGrpSpPr/>
              <p:nvPr/>
            </p:nvGrpSpPr>
            <p:grpSpPr>
              <a:xfrm>
                <a:off x="0" y="0"/>
                <a:ext cx="3943500" cy="609600"/>
                <a:chOff x="0" y="0"/>
                <a:chExt cx="3943500" cy="609600"/>
              </a:xfrm>
            </p:grpSpPr>
            <p:sp>
              <p:nvSpPr>
                <p:cNvPr id="200" name="Google Shape;200;p19"/>
                <p:cNvSpPr/>
                <p:nvPr/>
              </p:nvSpPr>
              <p:spPr>
                <a:xfrm>
                  <a:off x="0" y="0"/>
                  <a:ext cx="304800" cy="304800"/>
                </a:xfrm>
                <a:prstGeom prst="ellipse">
                  <a:avLst/>
                </a:prstGeom>
                <a:solidFill>
                  <a:srgbClr val="0056B3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" name="Google Shape;201;p19"/>
                <p:cNvSpPr txBox="1"/>
                <p:nvPr/>
              </p:nvSpPr>
              <p:spPr>
                <a:xfrm>
                  <a:off x="0" y="0"/>
                  <a:ext cx="3048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100">
                      <a:solidFill>
                        <a:srgbClr val="FFFFFF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1</a:t>
                  </a:r>
                  <a:endParaRPr b="1" sz="11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202" name="Google Shape;202;p19"/>
                <p:cNvSpPr/>
                <p:nvPr/>
              </p:nvSpPr>
              <p:spPr>
                <a:xfrm>
                  <a:off x="419100" y="0"/>
                  <a:ext cx="3524400" cy="609600"/>
                </a:xfrm>
                <a:prstGeom prst="roundRect">
                  <a:avLst>
                    <a:gd fmla="val 3125" name="adj"/>
                  </a:avLst>
                </a:prstGeom>
                <a:solidFill>
                  <a:srgbClr val="F4F6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" name="Google Shape;203;p19"/>
                <p:cNvSpPr txBox="1"/>
                <p:nvPr/>
              </p:nvSpPr>
              <p:spPr>
                <a:xfrm>
                  <a:off x="533400" y="95250"/>
                  <a:ext cx="32958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100">
                      <a:solidFill>
                        <a:srgbClr val="1A1D20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Primary Input</a:t>
                  </a:r>
                  <a:endParaRPr b="0" sz="1100">
                    <a:solidFill>
                      <a:srgbClr val="1A1D2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0" lang="en" sz="900">
                      <a:solidFill>
                        <a:srgbClr val="495057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Mobile photo of chest X-ray film.</a:t>
                  </a:r>
                  <a:endParaRPr b="0" sz="900">
                    <a:solidFill>
                      <a:srgbClr val="495057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204" name="Google Shape;204;p19"/>
              <p:cNvGrpSpPr/>
              <p:nvPr/>
            </p:nvGrpSpPr>
            <p:grpSpPr>
              <a:xfrm>
                <a:off x="0" y="800100"/>
                <a:ext cx="3943500" cy="609600"/>
                <a:chOff x="0" y="0"/>
                <a:chExt cx="3943500" cy="609600"/>
              </a:xfrm>
            </p:grpSpPr>
            <p:sp>
              <p:nvSpPr>
                <p:cNvPr id="205" name="Google Shape;205;p19"/>
                <p:cNvSpPr/>
                <p:nvPr/>
              </p:nvSpPr>
              <p:spPr>
                <a:xfrm>
                  <a:off x="0" y="0"/>
                  <a:ext cx="304800" cy="304800"/>
                </a:xfrm>
                <a:prstGeom prst="ellipse">
                  <a:avLst/>
                </a:prstGeom>
                <a:solidFill>
                  <a:srgbClr val="0056B3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" name="Google Shape;206;p19"/>
                <p:cNvSpPr txBox="1"/>
                <p:nvPr/>
              </p:nvSpPr>
              <p:spPr>
                <a:xfrm>
                  <a:off x="0" y="0"/>
                  <a:ext cx="3048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100">
                      <a:solidFill>
                        <a:srgbClr val="FFFFFF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2</a:t>
                  </a:r>
                  <a:endParaRPr b="1" sz="11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207" name="Google Shape;207;p19"/>
                <p:cNvSpPr/>
                <p:nvPr/>
              </p:nvSpPr>
              <p:spPr>
                <a:xfrm>
                  <a:off x="419100" y="0"/>
                  <a:ext cx="3524400" cy="609600"/>
                </a:xfrm>
                <a:prstGeom prst="roundRect">
                  <a:avLst>
                    <a:gd fmla="val 3125" name="adj"/>
                  </a:avLst>
                </a:prstGeom>
                <a:solidFill>
                  <a:srgbClr val="F4F6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" name="Google Shape;208;p19"/>
                <p:cNvSpPr txBox="1"/>
                <p:nvPr/>
              </p:nvSpPr>
              <p:spPr>
                <a:xfrm>
                  <a:off x="533400" y="95250"/>
                  <a:ext cx="32958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100">
                      <a:solidFill>
                        <a:srgbClr val="1A1D20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Initial Score &amp; Uncertainty Assessment</a:t>
                  </a:r>
                  <a:endParaRPr b="0" sz="1100">
                    <a:solidFill>
                      <a:srgbClr val="1A1D2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0" lang="en" sz="900">
                      <a:solidFill>
                        <a:srgbClr val="495057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Generates preliminary prediction + spatial uncertainty map.</a:t>
                  </a:r>
                  <a:endParaRPr b="0" sz="900">
                    <a:solidFill>
                      <a:srgbClr val="495057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209" name="Google Shape;209;p19"/>
              <p:cNvGrpSpPr/>
              <p:nvPr/>
            </p:nvGrpSpPr>
            <p:grpSpPr>
              <a:xfrm>
                <a:off x="0" y="1600200"/>
                <a:ext cx="3943500" cy="609600"/>
                <a:chOff x="0" y="0"/>
                <a:chExt cx="3943500" cy="609600"/>
              </a:xfrm>
            </p:grpSpPr>
            <p:sp>
              <p:nvSpPr>
                <p:cNvPr id="210" name="Google Shape;210;p19"/>
                <p:cNvSpPr/>
                <p:nvPr/>
              </p:nvSpPr>
              <p:spPr>
                <a:xfrm>
                  <a:off x="0" y="0"/>
                  <a:ext cx="304800" cy="304800"/>
                </a:xfrm>
                <a:prstGeom prst="ellipse">
                  <a:avLst/>
                </a:prstGeom>
                <a:solidFill>
                  <a:srgbClr val="0056B3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" name="Google Shape;211;p19"/>
                <p:cNvSpPr txBox="1"/>
                <p:nvPr/>
              </p:nvSpPr>
              <p:spPr>
                <a:xfrm>
                  <a:off x="0" y="0"/>
                  <a:ext cx="3048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100">
                      <a:solidFill>
                        <a:srgbClr val="FFFFFF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3</a:t>
                  </a:r>
                  <a:endParaRPr b="1" sz="11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212" name="Google Shape;212;p19"/>
                <p:cNvSpPr/>
                <p:nvPr/>
              </p:nvSpPr>
              <p:spPr>
                <a:xfrm>
                  <a:off x="419100" y="0"/>
                  <a:ext cx="3524400" cy="609600"/>
                </a:xfrm>
                <a:prstGeom prst="roundRect">
                  <a:avLst>
                    <a:gd fmla="val 3125" name="adj"/>
                  </a:avLst>
                </a:prstGeom>
                <a:solidFill>
                  <a:srgbClr val="F4F6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" name="Google Shape;213;p19"/>
                <p:cNvSpPr txBox="1"/>
                <p:nvPr/>
              </p:nvSpPr>
              <p:spPr>
                <a:xfrm>
                  <a:off x="533400" y="95250"/>
                  <a:ext cx="32958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935">
                      <a:solidFill>
                        <a:srgbClr val="1A1D20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Actionable Prompt</a:t>
                  </a:r>
                  <a:endParaRPr b="0" sz="935">
                    <a:solidFill>
                      <a:srgbClr val="1A1D2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0" lang="en" sz="765">
                      <a:solidFill>
                        <a:srgbClr val="495057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Requests targeted secondary close-up photo if crucial region is obscured.</a:t>
                  </a:r>
                  <a:endParaRPr b="0" sz="765">
                    <a:solidFill>
                      <a:srgbClr val="495057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214" name="Google Shape;214;p19"/>
              <p:cNvGrpSpPr/>
              <p:nvPr/>
            </p:nvGrpSpPr>
            <p:grpSpPr>
              <a:xfrm>
                <a:off x="0" y="2400300"/>
                <a:ext cx="3943500" cy="609600"/>
                <a:chOff x="0" y="0"/>
                <a:chExt cx="3943500" cy="609600"/>
              </a:xfrm>
            </p:grpSpPr>
            <p:sp>
              <p:nvSpPr>
                <p:cNvPr id="215" name="Google Shape;215;p19"/>
                <p:cNvSpPr/>
                <p:nvPr/>
              </p:nvSpPr>
              <p:spPr>
                <a:xfrm>
                  <a:off x="0" y="0"/>
                  <a:ext cx="304800" cy="304800"/>
                </a:xfrm>
                <a:prstGeom prst="ellipse">
                  <a:avLst/>
                </a:prstGeom>
                <a:solidFill>
                  <a:srgbClr val="0D8A95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" name="Google Shape;216;p19"/>
                <p:cNvSpPr txBox="1"/>
                <p:nvPr/>
              </p:nvSpPr>
              <p:spPr>
                <a:xfrm>
                  <a:off x="0" y="0"/>
                  <a:ext cx="3048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100">
                      <a:solidFill>
                        <a:srgbClr val="FFFFFF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4</a:t>
                  </a:r>
                  <a:endParaRPr b="1" sz="11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217" name="Google Shape;217;p19"/>
                <p:cNvSpPr/>
                <p:nvPr/>
              </p:nvSpPr>
              <p:spPr>
                <a:xfrm>
                  <a:off x="419100" y="0"/>
                  <a:ext cx="3524400" cy="609600"/>
                </a:xfrm>
                <a:prstGeom prst="roundRect">
                  <a:avLst>
                    <a:gd fmla="val 3125" name="adj"/>
                  </a:avLst>
                </a:prstGeom>
                <a:solidFill>
                  <a:srgbClr val="F4F6F8"/>
                </a:solidFill>
                <a:ln cap="flat" cmpd="sng" w="9525">
                  <a:solidFill>
                    <a:srgbClr val="0D8A9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" name="Google Shape;218;p19"/>
                <p:cNvSpPr txBox="1"/>
                <p:nvPr/>
              </p:nvSpPr>
              <p:spPr>
                <a:xfrm>
                  <a:off x="533400" y="95250"/>
                  <a:ext cx="32958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100">
                      <a:solidFill>
                        <a:srgbClr val="0D8A95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Final Output</a:t>
                  </a:r>
                  <a:endParaRPr b="0" sz="1100">
                    <a:solidFill>
                      <a:srgbClr val="0D8A95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0" lang="en" sz="900">
                      <a:solidFill>
                        <a:srgbClr val="495057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Highly confident, fused diagnostic classification.</a:t>
                  </a:r>
                  <a:endParaRPr b="0" sz="900">
                    <a:solidFill>
                      <a:srgbClr val="495057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